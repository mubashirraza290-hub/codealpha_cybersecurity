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participants. Emphasize the scale of phishing globally — 3.4 billion emails daily. This module takes approximately 20–25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all 6 phishing types. Emphasize that spear phishing and whaling are more dangerous due to personalization.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annotated fake email. Ask participants to identify red flags before revealing them. The 'paypa1' domain trick is very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Hover over links before clicking is critical. Demo the URL analysis in browser dev tools if screen is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psychological core of the training. Ask participants if they've ever received messages using these tactics. Role-play a vishing call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Twitter attack is compelling because it required zero malware. Pure social engineering. Discuss why tech-savvy people are still vulnerable.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participants which of these practices they already use. MFA is the #1 most impactful action anyone can take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SLAM method is the key takeaway. Encourage participants to print this and keep it at their desk or save on their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reporting quickly reduces damage dramatically. Many ransomware attacks succeed because employees wait hours before reporting. No shame in clicking — shame in not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questions one at a time. Ask participants to discuss options before revealing the answer. This promotes active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concrete commitment: ask each participant what ONE thing they will do today based on this training. Share contact info for the security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73152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D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ATTACKS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· Resist · Report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2011680"/>
            <a:ext cx="5029200" cy="36576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148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8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cybersecurity awareness training module covering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8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phishing works, how to spot it, and how to protect yourself.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429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" y="40690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daily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3429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383280" y="40690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phishing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429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$17.7K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309360" y="40690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minute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downtime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Training  |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8F0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social engineering attack where cybercriminals disguise themselves as trusted entities — banks, tech companies, colleagues — to trick victims into revealing sensitive information or installing malware.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9443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organizations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9443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against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individuals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5603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9443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targets: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CEOs &amp; executives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788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text 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malicious links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7947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4048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41788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impersonating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services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7947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7512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Phishing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41788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Phishing Emails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4572000" cy="457200"/>
          </a:xfrm>
          <a:prstGeom prst="roundRect">
            <a:avLst>
              <a:gd name="adj" fmla="val 24000"/>
            </a:avLst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554480"/>
            <a:ext cx="4572000" cy="1828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984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 Inbox — 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security@paypa1-alerts.com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URGENT: Account Suspended!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you@yourcompany.com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70048"/>
            <a:ext cx="4297680" cy="18288"/>
          </a:xfrm>
          <a:prstGeom prst="rect">
            <a:avLst/>
          </a:prstGeom>
          <a:solidFill>
            <a:srgbClr val="DCE6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432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
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access has been SUSPENDED due to suspicious activity. Click below IMMEDIATELY to verify your details or your account will be PERMANENTLY CLOSED within 24 hours.
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3822192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F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22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🚩 Red Flags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66360" y="17830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17922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sender domain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196596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'paypa1' not 'paypal'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66360" y="2286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29514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/ threatening language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4688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tactics to rush you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66360" y="27889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7980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297180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'Dear Valued Customer'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66360" y="32918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300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call-to-action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347472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Pressured to click immediately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66360" y="37947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803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errors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397764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writing quality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66360" y="42976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43068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email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448056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didn't initiate this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Websites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Anatomy: Real vs Fake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83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https://www.paypal.com/login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ECE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783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FAKE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http://paypal-secure.login-verify.com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7706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HTTPS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4495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https:// with padlock icon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2644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http:// = NOT secure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26974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6200" y="27706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Domain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304495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paypal.com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86200" y="32644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paypal-secure.com or paypa1.com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6974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12280" y="27706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Poor Design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04495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Professional, consistent branding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32644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Blurry logos, broken layouts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3867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Overload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14223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Minimal, relevant prompts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43616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Excessive alerts &amp; prize claims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794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83280" y="3886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86200" y="3867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Search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86200" y="414223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Search company name separately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86200" y="43616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trust email-provided links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794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09360" y="3886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12280" y="3867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Content Quality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414223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Professional, error-free copy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12280" y="43616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Typos, awkward phrasing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589520" y="365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2860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manipulate human psychology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7830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D1929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17830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80136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URGENCY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2130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""Your account will be deleted in 2 hours!""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386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panic, bypasses rational thinking. Attackers know rushed decisions are poor decisions.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54880" y="17830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D1929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17830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8E44AD"/>
          </a:solidFill>
          <a:ln/>
        </p:spPr>
      </p:sp>
      <p:sp>
        <p:nvSpPr>
          <p:cNvPr id="14" name="Text 11"/>
          <p:cNvSpPr/>
          <p:nvPr/>
        </p:nvSpPr>
        <p:spPr>
          <a:xfrm>
            <a:off x="4828032" y="180136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AUTHORITY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92040" y="2130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""This is your IT department. We need your password immediately.""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92040" y="2386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executives, IT teams, or government agencies to demand compliance.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D1929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" y="283464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438912" y="285292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SCARCITY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02920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""Only 3 spots left! Claim your prize NOW.""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3438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missing out drives impulsive action without due diligence.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54880" y="283464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D1929"/>
          </a:solidFill>
          <a:ln/>
        </p:spPr>
      </p:sp>
      <p:sp>
        <p:nvSpPr>
          <p:cNvPr id="23" name="Shape 20"/>
          <p:cNvSpPr/>
          <p:nvPr/>
        </p:nvSpPr>
        <p:spPr>
          <a:xfrm>
            <a:off x="4754880" y="283464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24" name="Text 21"/>
          <p:cNvSpPr/>
          <p:nvPr/>
        </p:nvSpPr>
        <p:spPr>
          <a:xfrm>
            <a:off x="4828032" y="285292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😨 FEAR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""We detected illegal activity from your device.""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92040" y="3438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arrest, fines, or account suspension to force immediate action.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65760" y="38862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D1929"/>
          </a:solidFill>
          <a:ln/>
        </p:spPr>
      </p:sp>
      <p:sp>
        <p:nvSpPr>
          <p:cNvPr id="28" name="Shape 25"/>
          <p:cNvSpPr/>
          <p:nvPr/>
        </p:nvSpPr>
        <p:spPr>
          <a:xfrm>
            <a:off x="365760" y="38862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/>
        </p:spPr>
      </p:sp>
      <p:sp>
        <p:nvSpPr>
          <p:cNvPr id="29" name="Text 26"/>
          <p:cNvSpPr/>
          <p:nvPr/>
        </p:nvSpPr>
        <p:spPr>
          <a:xfrm>
            <a:off x="438912" y="39044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CURIOSITY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4233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""See who viewed your profile — click here.""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4489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 with enticing content: celebrity gossip, free prizes, secret information.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54880" y="38862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D1929"/>
          </a:solidFill>
          <a:ln/>
        </p:spPr>
      </p:sp>
      <p:sp>
        <p:nvSpPr>
          <p:cNvPr id="33" name="Shape 30"/>
          <p:cNvSpPr/>
          <p:nvPr/>
        </p:nvSpPr>
        <p:spPr>
          <a:xfrm>
            <a:off x="4754880" y="38862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34" name="Text 31"/>
          <p:cNvSpPr/>
          <p:nvPr/>
        </p:nvSpPr>
        <p:spPr>
          <a:xfrm>
            <a:off x="4828032" y="39044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TRUST/RAPPORT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92040" y="4233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""Hi, it's John from the 3rd floor — just emailing about the project.""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892040" y="4489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colleagues using publicly available personal details.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Golden Rule: Legitimate organizations will NEVER pressure you to act immediately without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Attack: Twitter Bitcoin Scam (2020)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18288" cy="18288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371600"/>
            <a:ext cx="457200" cy="457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Attack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27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called Twitter employees pretending to be IT staff, claiming they needed login credentials to fix VPN issues during COVID-19.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8288" cy="18288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2212848"/>
            <a:ext cx="457200" cy="457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2311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gave access to internal admin tools — no malware needed. Pure social engineering over the phone.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8288" cy="18288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3054096"/>
            <a:ext cx="457200" cy="457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0723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Hijack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310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high-profile accounts hacked: Obama, Biden, Musk, Apple, Gates — all posting the same Bitcoin scam message.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3895344"/>
            <a:ext cx="457200" cy="457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9136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Damage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1513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$120,000+ in Bitcoin stolen within hours. 3 attackers arrested, including a 17-year-old mastermind.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137160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1A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Lessons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phishing link was even needed — a phone call was enough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+ authority = the most dangerous combination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2971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trained tech professionals can be fooled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 through official channels ALWAYS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3977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contacts to your security team immediately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$120,000+ stolen in hours — from a phone call.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20440" y="1481328"/>
            <a:ext cx="841248" cy="2286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4813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78992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8992" y="1783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your password is stolen, MFA blocks 99.9% of account takeovers. Enable it everywhere.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09560" y="1481328"/>
            <a:ext cx="841248" cy="2286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14813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68112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Click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68112" y="1783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URL. When in doubt, go directly to the website by typing it manually.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520440" y="2624328"/>
            <a:ext cx="841248" cy="2286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26243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78992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Through Separate Channels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8992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an urgent email from your bank? Call them back using the number on their official website — not the number in the email.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909560" y="2624328"/>
            <a:ext cx="841248" cy="2286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26243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68112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68112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known vulnerabilities. Patch your OS, browser, and apps immediately when updates are available.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" y="3767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🗝️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520440" y="3767328"/>
            <a:ext cx="841248" cy="2286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7673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78992" y="4069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complex passwords for every account. A password manager eliminates the risk of reused passwords.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64608" y="3767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909560" y="3767328"/>
            <a:ext cx="841248" cy="2286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37673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68112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68112" y="4069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email client's 'Report Phishing' button. Even if you're unsure, it helps protect everyone.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the SLAM Method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mental checklist for every email you receive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914400" cy="9144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1122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sender who they claim to be?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4107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the full email address domain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Look for subtle misspellings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Hover to reveal the real sender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7520" y="1463040"/>
            <a:ext cx="914400" cy="9144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14600" y="2487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28803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11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links safe to click?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34107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Hover before clicking — does URL match?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0604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Look for HTTPS and correct domain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4233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 directly to the site instead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66360" y="1463040"/>
            <a:ext cx="914400" cy="9144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63440" y="2487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11224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attachment expected?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34107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Never open unexpected attachments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 wary of .exe, .zip, .doc files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4233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When in doubt, call the sender to verify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0" y="1463040"/>
            <a:ext cx="914400" cy="9144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812280" y="2487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12280" y="28803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112240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message make sense?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03720" y="34107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Are there urgency or fear tactics?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0372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 the request unusual or out-of-character?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33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Would this person normally ask this?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F4D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Click a Phishing Link…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panic — act fast and follow these steps: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801368"/>
            <a:ext cx="502920" cy="5029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78992" y="1783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Disconnect from the network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20939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Wi-Fi and unplug Ethernet to prevent malware from spreading or communicating with attackers.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801368"/>
            <a:ext cx="502920" cy="5029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68112" y="1783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Don't enter any information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68112" y="20939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fake login page loaded, close it immediately. Do NOT submit your credentials.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852928"/>
            <a:ext cx="502920" cy="5029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8992" y="28346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Change your passwords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31455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passwords for any accounts you may have exposed, starting with email and financial accounts.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2852928"/>
            <a:ext cx="502920" cy="5029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68112" y="28346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Report to IT Security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68112" y="31455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IT/security team immediately with details: the email, the link, and what happened.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" y="3904488"/>
            <a:ext cx="502920" cy="5029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8992" y="3886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Run a security scan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78992" y="41970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your device scanned by your IT team or trusted antivirus software before reconnecting.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904488"/>
            <a:ext cx="502920" cy="5029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68112" y="3886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Monitor your accounts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68112" y="41970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unusual activity. Enable alerts on banking and email. Consider a credit freeze if financial data was exposed.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Knowledge Check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you've learned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You receive an email from 'admin@micosoft-support.net' asking you to verify your account. What should you do?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801368"/>
            <a:ext cx="8412480" cy="338328"/>
          </a:xfrm>
          <a:prstGeom prst="roundRect">
            <a:avLst>
              <a:gd name="adj" fmla="val 16216"/>
            </a:avLst>
          </a:prstGeom>
          <a:solidFill>
            <a:srgbClr val="0D192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37944"/>
            <a:ext cx="274320" cy="2743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and enter your details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85416"/>
            <a:ext cx="8412480" cy="338328"/>
          </a:xfrm>
          <a:prstGeom prst="roundRect">
            <a:avLst>
              <a:gd name="adj" fmla="val 16216"/>
            </a:avLst>
          </a:prstGeom>
          <a:solidFill>
            <a:srgbClr val="0D332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221992"/>
            <a:ext cx="274320" cy="27432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22219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domain and report it — 'micosoft' is a typosquatting attempt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224028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412480" cy="338328"/>
          </a:xfrm>
          <a:prstGeom prst="roundRect">
            <a:avLst>
              <a:gd name="adj" fmla="val 16216"/>
            </a:avLst>
          </a:prstGeom>
          <a:solidFill>
            <a:srgbClr val="0D192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606040"/>
            <a:ext cx="274320" cy="2743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confirm if it's legitimate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Your CEO emails you urgently at 5 PM Friday: 'Wire $15,000 to this vendor immediately — confidential, don't tell anyone.' What do you do?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630168"/>
            <a:ext cx="8412480" cy="338328"/>
          </a:xfrm>
          <a:prstGeom prst="roundRect">
            <a:avLst>
              <a:gd name="adj" fmla="val 16216"/>
            </a:avLst>
          </a:prstGeom>
          <a:solidFill>
            <a:srgbClr val="0D192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66744"/>
            <a:ext cx="274320" cy="2743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36667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it — the CEO is trusted authority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14216"/>
            <a:ext cx="8412480" cy="338328"/>
          </a:xfrm>
          <a:prstGeom prst="roundRect">
            <a:avLst>
              <a:gd name="adj" fmla="val 16216"/>
            </a:avLst>
          </a:prstGeom>
          <a:solidFill>
            <a:srgbClr val="0D192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050792"/>
            <a:ext cx="274320" cy="27432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" y="40507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Monday to check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398264"/>
            <a:ext cx="8412480" cy="338328"/>
          </a:xfrm>
          <a:prstGeom prst="roundRect">
            <a:avLst>
              <a:gd name="adj" fmla="val 16216"/>
            </a:avLst>
          </a:prstGeom>
          <a:solidFill>
            <a:srgbClr val="0D332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434840"/>
            <a:ext cx="274320" cy="27432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CEO directly on a known number to verify before any 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38160" y="445312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132320" y="45720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Now Better Protected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65760" y="960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this training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536192"/>
            <a:ext cx="4389120" cy="18288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1463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151790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uses psychology — urgency, fear, authority, and curiosity — not just technology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130552"/>
            <a:ext cx="4389120" cy="18288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2057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211226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sender addresses, URLs, and website indicators before trusting anything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724912"/>
            <a:ext cx="4389120" cy="18288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651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270662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SLAM method: check the Sender, Links, Attachments, and Message on every email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319272"/>
            <a:ext cx="4389120" cy="18288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3246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8680" y="330098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everywhere — it's your strongest single defense against account takeover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913632"/>
            <a:ext cx="4389120" cy="18288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840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8680" y="389534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 doubt, verify through a separate channel. If you click, report it immediately — no shame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4348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F4D4D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48056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YOUR ACTION TODAY: Enable MFA on your email account and share the SLAM method with your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Attacks: Recognize, Resist, Report</dc:title>
  <dc:subject>PptxGenJS Presentation</dc:subject>
  <dc:creator>Cybersecurity Awareness Training</dc:creator>
  <cp:lastModifiedBy>Cybersecurity Awareness Training</cp:lastModifiedBy>
  <cp:revision>1</cp:revision>
  <dcterms:created xsi:type="dcterms:W3CDTF">2026-06-22T04:13:09Z</dcterms:created>
  <dcterms:modified xsi:type="dcterms:W3CDTF">2026-06-22T04:13:09Z</dcterms:modified>
</cp:coreProperties>
</file>